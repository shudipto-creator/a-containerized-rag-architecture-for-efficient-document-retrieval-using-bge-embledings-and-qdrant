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HK Grotesk" panose="020B0604020202020204" charset="0"/>
      <p:regular r:id="rId9"/>
    </p:embeddedFont>
    <p:embeddedFont>
      <p:font typeface="HK Grotesk Bold" panose="020B0604020202020204" charset="0"/>
      <p:regular r:id="rId10"/>
    </p:embeddedFont>
    <p:embeddedFont>
      <p:font typeface="Poppins" panose="00000500000000000000" pitchFamily="2" charset="0"/>
      <p:regular r:id="rId11"/>
    </p:embeddedFont>
    <p:embeddedFont>
      <p:font typeface="Poppi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5" d="100"/>
          <a:sy n="85" d="100"/>
        </p:scale>
        <p:origin x="15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8F3D2-2EF9-4454-ADA6-D290DA2A6F4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6DB5-9DF7-4E5A-9E3D-63BDBA23C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4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36DB5-9DF7-4E5A-9E3D-63BDBA23C1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1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9393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397963" y="7139867"/>
            <a:ext cx="2321051" cy="2321051"/>
          </a:xfrm>
          <a:custGeom>
            <a:avLst/>
            <a:gdLst/>
            <a:ahLst/>
            <a:cxnLst/>
            <a:rect l="l" t="t" r="r" b="b"/>
            <a:pathLst>
              <a:path w="2321051" h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370258" y="7123103"/>
            <a:ext cx="1442186" cy="1442186"/>
          </a:xfrm>
          <a:custGeom>
            <a:avLst/>
            <a:gdLst/>
            <a:ahLst/>
            <a:cxnLst/>
            <a:rect l="l" t="t" r="r" b="b"/>
            <a:pathLst>
              <a:path w="1442186" h="1442186">
                <a:moveTo>
                  <a:pt x="0" y="0"/>
                </a:moveTo>
                <a:lnTo>
                  <a:pt x="1442186" y="0"/>
                </a:lnTo>
                <a:lnTo>
                  <a:pt x="1442186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856348" y="1360054"/>
            <a:ext cx="2287216" cy="2287216"/>
          </a:xfrm>
          <a:custGeom>
            <a:avLst/>
            <a:gdLst/>
            <a:ahLst/>
            <a:cxnLst/>
            <a:rect l="l" t="t" r="r" b="b"/>
            <a:pathLst>
              <a:path w="2287216" h="2287216">
                <a:moveTo>
                  <a:pt x="0" y="0"/>
                </a:moveTo>
                <a:lnTo>
                  <a:pt x="2287216" y="0"/>
                </a:lnTo>
                <a:lnTo>
                  <a:pt x="2287216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957756" y="-797825"/>
            <a:ext cx="1595650" cy="1595650"/>
          </a:xfrm>
          <a:custGeom>
            <a:avLst/>
            <a:gdLst/>
            <a:ahLst/>
            <a:cxnLst/>
            <a:rect l="l" t="t" r="r" b="b"/>
            <a:pathLst>
              <a:path w="1595650" h="1595650">
                <a:moveTo>
                  <a:pt x="0" y="0"/>
                </a:moveTo>
                <a:lnTo>
                  <a:pt x="1595651" y="0"/>
                </a:lnTo>
                <a:lnTo>
                  <a:pt x="1595651" y="1595650"/>
                </a:lnTo>
                <a:lnTo>
                  <a:pt x="0" y="159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78206" y="9725103"/>
            <a:ext cx="1314702" cy="1314702"/>
          </a:xfrm>
          <a:custGeom>
            <a:avLst/>
            <a:gdLst/>
            <a:ahLst/>
            <a:cxnLst/>
            <a:rect l="l" t="t" r="r" b="b"/>
            <a:pathLst>
              <a:path w="1314702" h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5701298" y="3985274"/>
            <a:ext cx="6990566" cy="651212"/>
            <a:chOff x="0" y="0"/>
            <a:chExt cx="1841137" cy="1715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41137" cy="171513"/>
            </a:xfrm>
            <a:custGeom>
              <a:avLst/>
              <a:gdLst/>
              <a:ahLst/>
              <a:cxnLst/>
              <a:rect l="l" t="t" r="r" b="b"/>
              <a:pathLst>
                <a:path w="1841137" h="171513">
                  <a:moveTo>
                    <a:pt x="6645" y="0"/>
                  </a:moveTo>
                  <a:lnTo>
                    <a:pt x="1834492" y="0"/>
                  </a:lnTo>
                  <a:cubicBezTo>
                    <a:pt x="1838162" y="0"/>
                    <a:pt x="1841137" y="2975"/>
                    <a:pt x="1841137" y="6645"/>
                  </a:cubicBezTo>
                  <a:lnTo>
                    <a:pt x="1841137" y="164868"/>
                  </a:lnTo>
                  <a:cubicBezTo>
                    <a:pt x="1841137" y="168538"/>
                    <a:pt x="1838162" y="171513"/>
                    <a:pt x="1834492" y="171513"/>
                  </a:cubicBezTo>
                  <a:lnTo>
                    <a:pt x="6645" y="171513"/>
                  </a:lnTo>
                  <a:cubicBezTo>
                    <a:pt x="2975" y="171513"/>
                    <a:pt x="0" y="168538"/>
                    <a:pt x="0" y="164868"/>
                  </a:cubicBezTo>
                  <a:lnTo>
                    <a:pt x="0" y="6645"/>
                  </a:lnTo>
                  <a:cubicBezTo>
                    <a:pt x="0" y="2975"/>
                    <a:pt x="2975" y="0"/>
                    <a:pt x="6645" y="0"/>
                  </a:cubicBezTo>
                  <a:close/>
                </a:path>
              </a:pathLst>
            </a:custGeom>
            <a:solidFill>
              <a:srgbClr val="0CC0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841137" cy="228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81050" y="2321114"/>
            <a:ext cx="16725900" cy="1069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32"/>
              </a:lnSpc>
            </a:pPr>
            <a:r>
              <a:rPr lang="en-US" sz="2800" b="1" dirty="0">
                <a:solidFill>
                  <a:srgbClr val="C1FF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Containerized RAG Architecture for Efficient Document Retrieval using BGE </a:t>
            </a:r>
            <a:r>
              <a:rPr lang="en-US" sz="2800" b="1" dirty="0" err="1">
                <a:solidFill>
                  <a:srgbClr val="C1FF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Embledings</a:t>
            </a:r>
            <a:r>
              <a:rPr lang="en-US" sz="2800" b="1" dirty="0">
                <a:solidFill>
                  <a:srgbClr val="C1FF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and </a:t>
            </a:r>
            <a:r>
              <a:rPr lang="en-US" sz="2800" b="1" dirty="0" err="1">
                <a:solidFill>
                  <a:srgbClr val="C1FF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Qdrant</a:t>
            </a:r>
            <a:endParaRPr lang="en-US" sz="2800" b="1" dirty="0">
              <a:solidFill>
                <a:srgbClr val="C1FF72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48200" y="4123492"/>
            <a:ext cx="9096763" cy="374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2126" b="1" dirty="0">
                <a:solidFill>
                  <a:srgbClr val="F3F3F2"/>
                </a:solidFill>
                <a:latin typeface="Poppins Bold"/>
                <a:ea typeface="Poppins Bold"/>
                <a:cs typeface="Poppins Bold"/>
                <a:sym typeface="Poppins Bold"/>
              </a:rPr>
              <a:t>Final Project - Professional Training YN3012170034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1409499" y="7844196"/>
            <a:ext cx="5738987" cy="49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7"/>
              </a:lnSpc>
            </a:pPr>
            <a:r>
              <a:rPr lang="en-US" sz="2719" b="1" dirty="0">
                <a:solidFill>
                  <a:srgbClr val="F3F3F2"/>
                </a:solidFill>
                <a:latin typeface="Poppins Bold"/>
                <a:ea typeface="Poppins Bold"/>
                <a:cs typeface="Poppins Bold"/>
                <a:sym typeface="Poppins Bold"/>
              </a:rPr>
              <a:t>ROY SUDIPTA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49520" y="8105984"/>
            <a:ext cx="5738987" cy="49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7"/>
              </a:lnSpc>
            </a:pPr>
            <a:r>
              <a:rPr lang="en-US" sz="2719" b="1" dirty="0">
                <a:solidFill>
                  <a:srgbClr val="F3F3F2"/>
                </a:solidFill>
                <a:latin typeface="Poppins Bold"/>
                <a:ea typeface="Poppins Bold"/>
                <a:cs typeface="Poppins Bold"/>
                <a:sym typeface="Poppins Bold"/>
              </a:rPr>
              <a:t>20243120070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599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4626350" y="1347492"/>
            <a:ext cx="9035300" cy="17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8"/>
              </a:lnSpc>
            </a:pPr>
            <a:r>
              <a:rPr lang="en-US" sz="5600" b="1">
                <a:solidFill>
                  <a:srgbClr val="C1FF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System </a:t>
            </a:r>
          </a:p>
          <a:p>
            <a:pPr algn="ctr">
              <a:lnSpc>
                <a:spcPts val="6988"/>
              </a:lnSpc>
            </a:pPr>
            <a:endParaRPr lang="en-US" sz="5600" b="1">
              <a:solidFill>
                <a:srgbClr val="C1FF72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626350" y="2199179"/>
            <a:ext cx="9035300" cy="17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8"/>
              </a:lnSpc>
            </a:pPr>
            <a:r>
              <a:rPr lang="en-US" sz="56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Architecture</a:t>
            </a:r>
          </a:p>
          <a:p>
            <a:pPr algn="ctr">
              <a:lnSpc>
                <a:spcPts val="6988"/>
              </a:lnSpc>
            </a:pPr>
            <a:endParaRPr lang="en-US" sz="5600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764731" y="59548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3759697" y="7404052"/>
            <a:ext cx="2321051" cy="2321051"/>
          </a:xfrm>
          <a:custGeom>
            <a:avLst/>
            <a:gdLst/>
            <a:ahLst/>
            <a:cxnLst/>
            <a:rect l="l" t="t" r="r" b="b"/>
            <a:pathLst>
              <a:path w="2321051" h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905257" y="7752002"/>
            <a:ext cx="1442186" cy="1442186"/>
          </a:xfrm>
          <a:custGeom>
            <a:avLst/>
            <a:gdLst/>
            <a:ahLst/>
            <a:cxnLst/>
            <a:rect l="l" t="t" r="r" b="b"/>
            <a:pathLst>
              <a:path w="1442186" h="1442186">
                <a:moveTo>
                  <a:pt x="0" y="0"/>
                </a:moveTo>
                <a:lnTo>
                  <a:pt x="1442186" y="0"/>
                </a:lnTo>
                <a:lnTo>
                  <a:pt x="1442186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254316" y="3481010"/>
            <a:ext cx="3143250" cy="2995036"/>
            <a:chOff x="0" y="0"/>
            <a:chExt cx="827978" cy="11049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7978" cy="1104984"/>
            </a:xfrm>
            <a:custGeom>
              <a:avLst/>
              <a:gdLst/>
              <a:ahLst/>
              <a:cxnLst/>
              <a:rect l="l" t="t" r="r" b="b"/>
              <a:pathLst>
                <a:path w="827978" h="1104984">
                  <a:moveTo>
                    <a:pt x="34477" y="0"/>
                  </a:moveTo>
                  <a:lnTo>
                    <a:pt x="793501" y="0"/>
                  </a:lnTo>
                  <a:cubicBezTo>
                    <a:pt x="812543" y="0"/>
                    <a:pt x="827978" y="15436"/>
                    <a:pt x="827978" y="34477"/>
                  </a:cubicBezTo>
                  <a:lnTo>
                    <a:pt x="827978" y="1070507"/>
                  </a:lnTo>
                  <a:cubicBezTo>
                    <a:pt x="827978" y="1089548"/>
                    <a:pt x="812543" y="1104984"/>
                    <a:pt x="793501" y="1104984"/>
                  </a:cubicBezTo>
                  <a:lnTo>
                    <a:pt x="34477" y="1104984"/>
                  </a:lnTo>
                  <a:cubicBezTo>
                    <a:pt x="25333" y="1104984"/>
                    <a:pt x="16564" y="1101352"/>
                    <a:pt x="10098" y="1094886"/>
                  </a:cubicBezTo>
                  <a:cubicBezTo>
                    <a:pt x="3632" y="1088420"/>
                    <a:pt x="0" y="1079651"/>
                    <a:pt x="0" y="1070507"/>
                  </a:cubicBezTo>
                  <a:lnTo>
                    <a:pt x="0" y="34477"/>
                  </a:lnTo>
                  <a:cubicBezTo>
                    <a:pt x="0" y="25333"/>
                    <a:pt x="3632" y="16564"/>
                    <a:pt x="10098" y="10098"/>
                  </a:cubicBezTo>
                  <a:cubicBezTo>
                    <a:pt x="16564" y="3632"/>
                    <a:pt x="25333" y="0"/>
                    <a:pt x="344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FDFB">
                    <a:alpha val="100000"/>
                  </a:srgbClr>
                </a:gs>
                <a:gs pos="100000">
                  <a:srgbClr val="1F447F">
                    <a:alpha val="100000"/>
                  </a:srgbClr>
                </a:gs>
              </a:gsLst>
              <a:lin ang="27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27978" cy="1162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86154" y="3481010"/>
            <a:ext cx="2857129" cy="2995036"/>
            <a:chOff x="0" y="0"/>
            <a:chExt cx="827978" cy="11049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7978" cy="1104984"/>
            </a:xfrm>
            <a:custGeom>
              <a:avLst/>
              <a:gdLst/>
              <a:ahLst/>
              <a:cxnLst/>
              <a:rect l="l" t="t" r="r" b="b"/>
              <a:pathLst>
                <a:path w="827978" h="1104984">
                  <a:moveTo>
                    <a:pt x="34477" y="0"/>
                  </a:moveTo>
                  <a:lnTo>
                    <a:pt x="793501" y="0"/>
                  </a:lnTo>
                  <a:cubicBezTo>
                    <a:pt x="812543" y="0"/>
                    <a:pt x="827978" y="15436"/>
                    <a:pt x="827978" y="34477"/>
                  </a:cubicBezTo>
                  <a:lnTo>
                    <a:pt x="827978" y="1070507"/>
                  </a:lnTo>
                  <a:cubicBezTo>
                    <a:pt x="827978" y="1089548"/>
                    <a:pt x="812543" y="1104984"/>
                    <a:pt x="793501" y="1104984"/>
                  </a:cubicBezTo>
                  <a:lnTo>
                    <a:pt x="34477" y="1104984"/>
                  </a:lnTo>
                  <a:cubicBezTo>
                    <a:pt x="25333" y="1104984"/>
                    <a:pt x="16564" y="1101352"/>
                    <a:pt x="10098" y="1094886"/>
                  </a:cubicBezTo>
                  <a:cubicBezTo>
                    <a:pt x="3632" y="1088420"/>
                    <a:pt x="0" y="1079651"/>
                    <a:pt x="0" y="1070507"/>
                  </a:cubicBezTo>
                  <a:lnTo>
                    <a:pt x="0" y="34477"/>
                  </a:lnTo>
                  <a:cubicBezTo>
                    <a:pt x="0" y="25333"/>
                    <a:pt x="3632" y="16564"/>
                    <a:pt x="10098" y="10098"/>
                  </a:cubicBezTo>
                  <a:cubicBezTo>
                    <a:pt x="16564" y="3632"/>
                    <a:pt x="25333" y="0"/>
                    <a:pt x="344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FDFB">
                    <a:alpha val="100000"/>
                  </a:srgbClr>
                </a:gs>
                <a:gs pos="100000">
                  <a:srgbClr val="1F447F">
                    <a:alpha val="100000"/>
                  </a:srgbClr>
                </a:gs>
              </a:gsLst>
              <a:lin ang="27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27978" cy="1162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053617" y="3496353"/>
            <a:ext cx="2857129" cy="2964349"/>
            <a:chOff x="0" y="0"/>
            <a:chExt cx="827978" cy="11049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7978" cy="1104984"/>
            </a:xfrm>
            <a:custGeom>
              <a:avLst/>
              <a:gdLst/>
              <a:ahLst/>
              <a:cxnLst/>
              <a:rect l="l" t="t" r="r" b="b"/>
              <a:pathLst>
                <a:path w="827978" h="1104984">
                  <a:moveTo>
                    <a:pt x="34477" y="0"/>
                  </a:moveTo>
                  <a:lnTo>
                    <a:pt x="793501" y="0"/>
                  </a:lnTo>
                  <a:cubicBezTo>
                    <a:pt x="812543" y="0"/>
                    <a:pt x="827978" y="15436"/>
                    <a:pt x="827978" y="34477"/>
                  </a:cubicBezTo>
                  <a:lnTo>
                    <a:pt x="827978" y="1070507"/>
                  </a:lnTo>
                  <a:cubicBezTo>
                    <a:pt x="827978" y="1089548"/>
                    <a:pt x="812543" y="1104984"/>
                    <a:pt x="793501" y="1104984"/>
                  </a:cubicBezTo>
                  <a:lnTo>
                    <a:pt x="34477" y="1104984"/>
                  </a:lnTo>
                  <a:cubicBezTo>
                    <a:pt x="25333" y="1104984"/>
                    <a:pt x="16564" y="1101352"/>
                    <a:pt x="10098" y="1094886"/>
                  </a:cubicBezTo>
                  <a:cubicBezTo>
                    <a:pt x="3632" y="1088420"/>
                    <a:pt x="0" y="1079651"/>
                    <a:pt x="0" y="1070507"/>
                  </a:cubicBezTo>
                  <a:lnTo>
                    <a:pt x="0" y="34477"/>
                  </a:lnTo>
                  <a:cubicBezTo>
                    <a:pt x="0" y="25333"/>
                    <a:pt x="3632" y="16564"/>
                    <a:pt x="10098" y="10098"/>
                  </a:cubicBezTo>
                  <a:cubicBezTo>
                    <a:pt x="16564" y="3632"/>
                    <a:pt x="25333" y="0"/>
                    <a:pt x="344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FDFB">
                    <a:alpha val="100000"/>
                  </a:srgbClr>
                </a:gs>
                <a:gs pos="100000">
                  <a:srgbClr val="1F447F">
                    <a:alpha val="100000"/>
                  </a:srgbClr>
                </a:gs>
              </a:gsLst>
              <a:lin ang="27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827978" cy="1162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62455" y="4827469"/>
            <a:ext cx="2519351" cy="72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2"/>
              </a:lnSpc>
            </a:pPr>
            <a:r>
              <a:rPr lang="en-US" sz="3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Streamlit</a:t>
            </a: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56769" y="4836003"/>
            <a:ext cx="2257882" cy="72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2"/>
              </a:lnSpc>
            </a:pPr>
            <a:r>
              <a:rPr lang="en-US" sz="3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FastAPI</a:t>
            </a:r>
            <a:endParaRPr lang="en-US" sz="3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73667" y="4830566"/>
            <a:ext cx="2257882" cy="744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3"/>
              </a:lnSpc>
            </a:pPr>
            <a:r>
              <a:rPr lang="en-US" sz="3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Qdrant</a:t>
            </a:r>
            <a:endParaRPr lang="en-US" sz="3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66291" y="3765382"/>
            <a:ext cx="2257882" cy="74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1"/>
              </a:lnSpc>
            </a:pPr>
            <a:r>
              <a:rPr lang="en-US" sz="4272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Frontend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72835" y="3731348"/>
            <a:ext cx="2257882" cy="74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1"/>
              </a:lnSpc>
            </a:pPr>
            <a:r>
              <a:rPr lang="en-US" sz="4272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Backend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31871" y="3598123"/>
            <a:ext cx="2741475" cy="1358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1"/>
              </a:lnSpc>
            </a:pPr>
            <a:r>
              <a:rPr lang="en-US" sz="3872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Vector Database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078336" y="1619391"/>
            <a:ext cx="2287216" cy="2287216"/>
          </a:xfrm>
          <a:custGeom>
            <a:avLst/>
            <a:gdLst/>
            <a:ahLst/>
            <a:cxnLst/>
            <a:rect l="l" t="t" r="r" b="b"/>
            <a:pathLst>
              <a:path w="2287216" h="2287216">
                <a:moveTo>
                  <a:pt x="0" y="0"/>
                </a:moveTo>
                <a:lnTo>
                  <a:pt x="2287216" y="0"/>
                </a:lnTo>
                <a:lnTo>
                  <a:pt x="2287216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7158447" y="821566"/>
            <a:ext cx="1595650" cy="1595650"/>
          </a:xfrm>
          <a:custGeom>
            <a:avLst/>
            <a:gdLst/>
            <a:ahLst/>
            <a:cxnLst/>
            <a:rect l="l" t="t" r="r" b="b"/>
            <a:pathLst>
              <a:path w="1595650" h="1595650">
                <a:moveTo>
                  <a:pt x="0" y="0"/>
                </a:moveTo>
                <a:lnTo>
                  <a:pt x="1595650" y="0"/>
                </a:lnTo>
                <a:lnTo>
                  <a:pt x="1595650" y="1595651"/>
                </a:lnTo>
                <a:lnTo>
                  <a:pt x="0" y="15956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878206" y="9725103"/>
            <a:ext cx="1314702" cy="1314702"/>
          </a:xfrm>
          <a:custGeom>
            <a:avLst/>
            <a:gdLst/>
            <a:ahLst/>
            <a:cxnLst/>
            <a:rect l="l" t="t" r="r" b="b"/>
            <a:pathLst>
              <a:path w="1314702" h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3104324" y="3496353"/>
            <a:ext cx="2741475" cy="2995036"/>
            <a:chOff x="0" y="0"/>
            <a:chExt cx="827978" cy="110498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27978" cy="1104984"/>
            </a:xfrm>
            <a:custGeom>
              <a:avLst/>
              <a:gdLst/>
              <a:ahLst/>
              <a:cxnLst/>
              <a:rect l="l" t="t" r="r" b="b"/>
              <a:pathLst>
                <a:path w="827978" h="1104984">
                  <a:moveTo>
                    <a:pt x="34477" y="0"/>
                  </a:moveTo>
                  <a:lnTo>
                    <a:pt x="793501" y="0"/>
                  </a:lnTo>
                  <a:cubicBezTo>
                    <a:pt x="812543" y="0"/>
                    <a:pt x="827978" y="15436"/>
                    <a:pt x="827978" y="34477"/>
                  </a:cubicBezTo>
                  <a:lnTo>
                    <a:pt x="827978" y="1070507"/>
                  </a:lnTo>
                  <a:cubicBezTo>
                    <a:pt x="827978" y="1089548"/>
                    <a:pt x="812543" y="1104984"/>
                    <a:pt x="793501" y="1104984"/>
                  </a:cubicBezTo>
                  <a:lnTo>
                    <a:pt x="34477" y="1104984"/>
                  </a:lnTo>
                  <a:cubicBezTo>
                    <a:pt x="25333" y="1104984"/>
                    <a:pt x="16564" y="1101352"/>
                    <a:pt x="10098" y="1094886"/>
                  </a:cubicBezTo>
                  <a:cubicBezTo>
                    <a:pt x="3632" y="1088420"/>
                    <a:pt x="0" y="1079651"/>
                    <a:pt x="0" y="1070507"/>
                  </a:cubicBezTo>
                  <a:lnTo>
                    <a:pt x="0" y="34477"/>
                  </a:lnTo>
                  <a:cubicBezTo>
                    <a:pt x="0" y="25333"/>
                    <a:pt x="3632" y="16564"/>
                    <a:pt x="10098" y="10098"/>
                  </a:cubicBezTo>
                  <a:cubicBezTo>
                    <a:pt x="16564" y="3632"/>
                    <a:pt x="25333" y="0"/>
                    <a:pt x="344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FDFB">
                    <a:alpha val="100000"/>
                  </a:srgbClr>
                </a:gs>
                <a:gs pos="100000">
                  <a:srgbClr val="1F447F">
                    <a:alpha val="100000"/>
                  </a:srgbClr>
                </a:gs>
              </a:gsLst>
              <a:lin ang="27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827978" cy="1162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134393" y="3742002"/>
            <a:ext cx="2741475" cy="68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1"/>
              </a:lnSpc>
            </a:pPr>
            <a:r>
              <a:rPr lang="en-US" sz="3972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ML Model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99046" y="4706980"/>
            <a:ext cx="2628278" cy="71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3"/>
              </a:lnSpc>
            </a:pPr>
            <a:r>
              <a:rPr lang="en-US" sz="2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BGE Large v1.5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340FD1-3BF1-DF24-0E30-DCA2B447BED9}"/>
              </a:ext>
            </a:extLst>
          </p:cNvPr>
          <p:cNvSpPr txBox="1"/>
          <p:nvPr/>
        </p:nvSpPr>
        <p:spPr>
          <a:xfrm>
            <a:off x="1371600" y="6775762"/>
            <a:ext cx="13868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</a:rPr>
              <a:t>Data Flow: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Upload Flow</a:t>
            </a:r>
            <a:r>
              <a:rPr lang="en-US" sz="2400" dirty="0">
                <a:solidFill>
                  <a:schemeClr val="bg1"/>
                </a:solidFill>
              </a:rPr>
              <a:t>: User → </a:t>
            </a:r>
            <a:r>
              <a:rPr lang="en-US" sz="2400" dirty="0" err="1">
                <a:solidFill>
                  <a:schemeClr val="bg1"/>
                </a:solidFill>
              </a:rPr>
              <a:t>Streamlit</a:t>
            </a:r>
            <a:r>
              <a:rPr lang="en-US" sz="2400" dirty="0">
                <a:solidFill>
                  <a:schemeClr val="bg1"/>
                </a:solidFill>
              </a:rPr>
              <a:t> UI → </a:t>
            </a:r>
            <a:r>
              <a:rPr lang="en-US" sz="2400" dirty="0" err="1">
                <a:solidFill>
                  <a:schemeClr val="bg1"/>
                </a:solidFill>
              </a:rPr>
              <a:t>FastAPI</a:t>
            </a:r>
            <a:r>
              <a:rPr lang="en-US" sz="2400" dirty="0">
                <a:solidFill>
                  <a:schemeClr val="bg1"/>
                </a:solidFill>
              </a:rPr>
              <a:t> → PDF Processing → Chunking → Embedding → </a:t>
            </a:r>
            <a:r>
              <a:rPr lang="en-US" sz="2400" dirty="0" err="1">
                <a:solidFill>
                  <a:schemeClr val="bg1"/>
                </a:solidFill>
              </a:rPr>
              <a:t>Qdrant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Query Flow</a:t>
            </a:r>
            <a:r>
              <a:rPr lang="en-US" sz="2400" dirty="0">
                <a:solidFill>
                  <a:schemeClr val="bg1"/>
                </a:solidFill>
              </a:rPr>
              <a:t>: User Query → </a:t>
            </a:r>
            <a:r>
              <a:rPr lang="en-US" sz="2400" dirty="0" err="1">
                <a:solidFill>
                  <a:schemeClr val="bg1"/>
                </a:solidFill>
              </a:rPr>
              <a:t>Streamlit</a:t>
            </a:r>
            <a:r>
              <a:rPr lang="en-US" sz="2400" dirty="0">
                <a:solidFill>
                  <a:schemeClr val="bg1"/>
                </a:solidFill>
              </a:rPr>
              <a:t> UI → </a:t>
            </a:r>
            <a:r>
              <a:rPr lang="en-US" sz="2400" dirty="0" err="1">
                <a:solidFill>
                  <a:schemeClr val="bg1"/>
                </a:solidFill>
              </a:rPr>
              <a:t>FastAPI</a:t>
            </a:r>
            <a:r>
              <a:rPr lang="en-US" sz="2400" dirty="0">
                <a:solidFill>
                  <a:schemeClr val="bg1"/>
                </a:solidFill>
              </a:rPr>
              <a:t> → Embedding → </a:t>
            </a:r>
            <a:r>
              <a:rPr lang="en-US" sz="2400" dirty="0" err="1">
                <a:solidFill>
                  <a:schemeClr val="bg1"/>
                </a:solidFill>
              </a:rPr>
              <a:t>Qdrant</a:t>
            </a:r>
            <a:r>
              <a:rPr lang="en-US" sz="2400" dirty="0">
                <a:solidFill>
                  <a:schemeClr val="bg1"/>
                </a:solidFill>
              </a:rPr>
              <a:t> Search → Results → UI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993710" y="2633519"/>
            <a:ext cx="632824" cy="449505"/>
            <a:chOff x="0" y="0"/>
            <a:chExt cx="166670" cy="1183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6670" cy="118388"/>
            </a:xfrm>
            <a:custGeom>
              <a:avLst/>
              <a:gdLst/>
              <a:ahLst/>
              <a:cxnLst/>
              <a:rect l="l" t="t" r="r" b="b"/>
              <a:pathLst>
                <a:path w="166670" h="118388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76496" y="6186041"/>
            <a:ext cx="632824" cy="449505"/>
            <a:chOff x="0" y="0"/>
            <a:chExt cx="166670" cy="1183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6670" cy="118388"/>
            </a:xfrm>
            <a:custGeom>
              <a:avLst/>
              <a:gdLst/>
              <a:ahLst/>
              <a:cxnLst/>
              <a:rect l="l" t="t" r="r" b="b"/>
              <a:pathLst>
                <a:path w="166670" h="118388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84701" y="2633519"/>
            <a:ext cx="4800607" cy="449505"/>
            <a:chOff x="0" y="0"/>
            <a:chExt cx="1264357" cy="1183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4357" cy="118388"/>
            </a:xfrm>
            <a:custGeom>
              <a:avLst/>
              <a:gdLst/>
              <a:ahLst/>
              <a:cxnLst/>
              <a:rect l="l" t="t" r="r" b="b"/>
              <a:pathLst>
                <a:path w="1264357" h="118388">
                  <a:moveTo>
                    <a:pt x="17740" y="0"/>
                  </a:moveTo>
                  <a:lnTo>
                    <a:pt x="1246618" y="0"/>
                  </a:lnTo>
                  <a:cubicBezTo>
                    <a:pt x="1251323" y="0"/>
                    <a:pt x="1255835" y="1869"/>
                    <a:pt x="1259162" y="5196"/>
                  </a:cubicBezTo>
                  <a:cubicBezTo>
                    <a:pt x="1262488" y="8523"/>
                    <a:pt x="1264357" y="13035"/>
                    <a:pt x="1264357" y="17740"/>
                  </a:cubicBezTo>
                  <a:lnTo>
                    <a:pt x="1264357" y="100649"/>
                  </a:lnTo>
                  <a:cubicBezTo>
                    <a:pt x="1264357" y="110446"/>
                    <a:pt x="1256415" y="118388"/>
                    <a:pt x="1246618" y="118388"/>
                  </a:cubicBezTo>
                  <a:lnTo>
                    <a:pt x="17740" y="118388"/>
                  </a:lnTo>
                  <a:cubicBezTo>
                    <a:pt x="13035" y="118388"/>
                    <a:pt x="8523" y="116519"/>
                    <a:pt x="5196" y="113192"/>
                  </a:cubicBezTo>
                  <a:cubicBezTo>
                    <a:pt x="1869" y="109866"/>
                    <a:pt x="0" y="105353"/>
                    <a:pt x="0" y="100649"/>
                  </a:cubicBezTo>
                  <a:lnTo>
                    <a:pt x="0" y="17740"/>
                  </a:lnTo>
                  <a:cubicBezTo>
                    <a:pt x="0" y="7942"/>
                    <a:pt x="7942" y="0"/>
                    <a:pt x="17740" y="0"/>
                  </a:cubicBezTo>
                  <a:close/>
                </a:path>
              </a:pathLst>
            </a:custGeom>
            <a:solidFill>
              <a:srgbClr val="0CC0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83144" y="6186041"/>
            <a:ext cx="4800607" cy="449505"/>
            <a:chOff x="0" y="0"/>
            <a:chExt cx="1264357" cy="1183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4357" cy="118388"/>
            </a:xfrm>
            <a:custGeom>
              <a:avLst/>
              <a:gdLst/>
              <a:ahLst/>
              <a:cxnLst/>
              <a:rect l="l" t="t" r="r" b="b"/>
              <a:pathLst>
                <a:path w="1264357" h="118388">
                  <a:moveTo>
                    <a:pt x="17740" y="0"/>
                  </a:moveTo>
                  <a:lnTo>
                    <a:pt x="1246618" y="0"/>
                  </a:lnTo>
                  <a:cubicBezTo>
                    <a:pt x="1251323" y="0"/>
                    <a:pt x="1255835" y="1869"/>
                    <a:pt x="1259162" y="5196"/>
                  </a:cubicBezTo>
                  <a:cubicBezTo>
                    <a:pt x="1262488" y="8523"/>
                    <a:pt x="1264357" y="13035"/>
                    <a:pt x="1264357" y="17740"/>
                  </a:cubicBezTo>
                  <a:lnTo>
                    <a:pt x="1264357" y="100649"/>
                  </a:lnTo>
                  <a:cubicBezTo>
                    <a:pt x="1264357" y="110446"/>
                    <a:pt x="1256415" y="118388"/>
                    <a:pt x="1246618" y="118388"/>
                  </a:cubicBezTo>
                  <a:lnTo>
                    <a:pt x="17740" y="118388"/>
                  </a:lnTo>
                  <a:cubicBezTo>
                    <a:pt x="13035" y="118388"/>
                    <a:pt x="8523" y="116519"/>
                    <a:pt x="5196" y="113192"/>
                  </a:cubicBezTo>
                  <a:cubicBezTo>
                    <a:pt x="1869" y="109866"/>
                    <a:pt x="0" y="105353"/>
                    <a:pt x="0" y="100649"/>
                  </a:cubicBezTo>
                  <a:lnTo>
                    <a:pt x="0" y="17740"/>
                  </a:lnTo>
                  <a:cubicBezTo>
                    <a:pt x="0" y="7942"/>
                    <a:pt x="7942" y="0"/>
                    <a:pt x="17740" y="0"/>
                  </a:cubicBezTo>
                  <a:close/>
                </a:path>
              </a:pathLst>
            </a:custGeom>
            <a:solidFill>
              <a:srgbClr val="0CC0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63690" y="-8042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993710" y="1212023"/>
            <a:ext cx="8986036" cy="98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0"/>
              </a:lnSpc>
            </a:pPr>
            <a:r>
              <a:rPr lang="en-US" sz="5771" b="1">
                <a:solidFill>
                  <a:srgbClr val="F3F3F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Major Code snippets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041975" y="8717718"/>
            <a:ext cx="2321051" cy="2321051"/>
          </a:xfrm>
          <a:custGeom>
            <a:avLst/>
            <a:gdLst/>
            <a:ahLst/>
            <a:cxnLst/>
            <a:rect l="l" t="t" r="r" b="b"/>
            <a:pathLst>
              <a:path w="2321051" h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041975" y="5229662"/>
            <a:ext cx="1442186" cy="1442186"/>
          </a:xfrm>
          <a:custGeom>
            <a:avLst/>
            <a:gdLst/>
            <a:ahLst/>
            <a:cxnLst/>
            <a:rect l="l" t="t" r="r" b="b"/>
            <a:pathLst>
              <a:path w="1442186" h="1442186">
                <a:moveTo>
                  <a:pt x="0" y="0"/>
                </a:moveTo>
                <a:lnTo>
                  <a:pt x="1442186" y="0"/>
                </a:lnTo>
                <a:lnTo>
                  <a:pt x="1442186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9388244" y="130000"/>
            <a:ext cx="2287216" cy="2287216"/>
          </a:xfrm>
          <a:custGeom>
            <a:avLst/>
            <a:gdLst/>
            <a:ahLst/>
            <a:cxnLst/>
            <a:rect l="l" t="t" r="r" b="b"/>
            <a:pathLst>
              <a:path w="2287216" h="2287216">
                <a:moveTo>
                  <a:pt x="0" y="0"/>
                </a:moveTo>
                <a:lnTo>
                  <a:pt x="2287216" y="0"/>
                </a:lnTo>
                <a:lnTo>
                  <a:pt x="2287216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7158447" y="821566"/>
            <a:ext cx="1595650" cy="1595650"/>
          </a:xfrm>
          <a:custGeom>
            <a:avLst/>
            <a:gdLst/>
            <a:ahLst/>
            <a:cxnLst/>
            <a:rect l="l" t="t" r="r" b="b"/>
            <a:pathLst>
              <a:path w="1595650" h="1595650">
                <a:moveTo>
                  <a:pt x="0" y="0"/>
                </a:moveTo>
                <a:lnTo>
                  <a:pt x="1595650" y="0"/>
                </a:lnTo>
                <a:lnTo>
                  <a:pt x="1595650" y="1595651"/>
                </a:lnTo>
                <a:lnTo>
                  <a:pt x="0" y="159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878206" y="9725103"/>
            <a:ext cx="1314702" cy="1314702"/>
          </a:xfrm>
          <a:custGeom>
            <a:avLst/>
            <a:gdLst/>
            <a:ahLst/>
            <a:cxnLst/>
            <a:rect l="l" t="t" r="r" b="b"/>
            <a:pathLst>
              <a:path w="1314702" h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278238" y="2290917"/>
            <a:ext cx="7880209" cy="2846725"/>
          </a:xfrm>
          <a:custGeom>
            <a:avLst/>
            <a:gdLst/>
            <a:ahLst/>
            <a:cxnLst/>
            <a:rect l="l" t="t" r="r" b="b"/>
            <a:pathLst>
              <a:path w="7880209" h="2846725">
                <a:moveTo>
                  <a:pt x="0" y="0"/>
                </a:moveTo>
                <a:lnTo>
                  <a:pt x="7880209" y="0"/>
                </a:lnTo>
                <a:lnTo>
                  <a:pt x="7880209" y="2846725"/>
                </a:lnTo>
                <a:lnTo>
                  <a:pt x="0" y="2846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9278238" y="6087511"/>
            <a:ext cx="5397072" cy="3342649"/>
          </a:xfrm>
          <a:custGeom>
            <a:avLst/>
            <a:gdLst/>
            <a:ahLst/>
            <a:cxnLst/>
            <a:rect l="l" t="t" r="r" b="b"/>
            <a:pathLst>
              <a:path w="5397072" h="3342649">
                <a:moveTo>
                  <a:pt x="0" y="0"/>
                </a:moveTo>
                <a:lnTo>
                  <a:pt x="5397072" y="0"/>
                </a:lnTo>
                <a:lnTo>
                  <a:pt x="5397072" y="3342649"/>
                </a:lnTo>
                <a:lnTo>
                  <a:pt x="0" y="33426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2270722" y="3128061"/>
            <a:ext cx="3151661" cy="288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showing the embedding service: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93710" y="7089984"/>
            <a:ext cx="5933587" cy="204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1" lvl="1" indent="-151130" algn="l">
              <a:lnSpc>
                <a:spcPts val="2255"/>
              </a:lnSpc>
              <a:buFont typeface="Arial"/>
              <a:buChar char="•"/>
            </a:pPr>
            <a:r>
              <a:rPr lang="en-US" sz="1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Qdrant</a:t>
            </a:r>
            <a:r>
              <a:rPr lang="en-US" sz="1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provides efficient vector similarity search with support for filtering and metadata storage.</a:t>
            </a:r>
          </a:p>
          <a:p>
            <a:pPr marL="302261" lvl="1" indent="-151130" algn="l">
              <a:lnSpc>
                <a:spcPts val="2255"/>
              </a:lnSpc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store both the vector embeddings and their corresponding text chunks with metadata about the source document.</a:t>
            </a:r>
          </a:p>
          <a:p>
            <a:pPr marL="302261" lvl="1" indent="-151130" algn="l">
              <a:lnSpc>
                <a:spcPts val="2255"/>
              </a:lnSpc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can handle multiple document uploads while maintaining document-level isolation where needed.</a:t>
            </a:r>
          </a:p>
          <a:p>
            <a:pPr algn="l">
              <a:lnSpc>
                <a:spcPts val="2255"/>
              </a:lnSpc>
            </a:pPr>
            <a:endParaRPr lang="en-US" sz="14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515602" y="2672914"/>
            <a:ext cx="4538806" cy="70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7"/>
              </a:lnSpc>
            </a:pPr>
            <a:r>
              <a:rPr lang="en-US" sz="203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Technical Implementation - Backend</a:t>
            </a:r>
          </a:p>
          <a:p>
            <a:pPr algn="l">
              <a:lnSpc>
                <a:spcPts val="2847"/>
              </a:lnSpc>
            </a:pPr>
            <a:endParaRPr lang="en-US" sz="2033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395340" y="6228546"/>
            <a:ext cx="457119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Vector Database Integration</a:t>
            </a:r>
          </a:p>
          <a:p>
            <a:pPr algn="l">
              <a:lnSpc>
                <a:spcPts val="2940"/>
              </a:lnSpc>
            </a:pPr>
            <a:endParaRPr lang="en-US" sz="2100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192908" y="3416935"/>
            <a:ext cx="6074040" cy="178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4" lvl="1" indent="-151132" algn="l">
              <a:lnSpc>
                <a:spcPts val="1960"/>
              </a:lnSpc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 implemented a thread-safe singleton pattern for our embedding model to ensure efficient memory usage.</a:t>
            </a:r>
          </a:p>
          <a:p>
            <a:pPr marL="302264" lvl="1" indent="-151132" algn="l">
              <a:lnSpc>
                <a:spcPts val="1960"/>
              </a:lnSpc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model automatically detects and uses GPU if available, falling back to CPU otherwise."</a:t>
            </a:r>
          </a:p>
          <a:p>
            <a:pPr marL="302264" lvl="1" indent="-151132" algn="l">
              <a:lnSpc>
                <a:spcPts val="1960"/>
              </a:lnSpc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We're using the BGE (BAAI General Embedding) model which provides state-of-the-art performance for retrieval tasks."</a:t>
            </a:r>
          </a:p>
          <a:p>
            <a:pPr algn="l">
              <a:lnSpc>
                <a:spcPts val="1960"/>
              </a:lnSpc>
            </a:pPr>
            <a:endParaRPr lang="en-US" sz="1400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192908" y="6742598"/>
            <a:ext cx="3151661" cy="5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Code for </a:t>
            </a:r>
            <a:r>
              <a:rPr lang="en-US" sz="14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Qdrant</a:t>
            </a:r>
            <a:r>
              <a:rPr lang="en-US" sz="1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operations:</a:t>
            </a:r>
          </a:p>
          <a:p>
            <a:pPr algn="l">
              <a:lnSpc>
                <a:spcPts val="2255"/>
              </a:lnSpc>
            </a:pPr>
            <a:endParaRPr lang="en-US" sz="14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993710" y="2633519"/>
            <a:ext cx="632824" cy="449505"/>
            <a:chOff x="0" y="0"/>
            <a:chExt cx="166670" cy="1183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6670" cy="118388"/>
            </a:xfrm>
            <a:custGeom>
              <a:avLst/>
              <a:gdLst/>
              <a:ahLst/>
              <a:cxnLst/>
              <a:rect l="l" t="t" r="r" b="b"/>
              <a:pathLst>
                <a:path w="166670" h="118388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76496" y="6186041"/>
            <a:ext cx="632824" cy="449505"/>
            <a:chOff x="0" y="0"/>
            <a:chExt cx="166670" cy="1183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6670" cy="118388"/>
            </a:xfrm>
            <a:custGeom>
              <a:avLst/>
              <a:gdLst/>
              <a:ahLst/>
              <a:cxnLst/>
              <a:rect l="l" t="t" r="r" b="b"/>
              <a:pathLst>
                <a:path w="166670" h="118388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84701" y="2633519"/>
            <a:ext cx="4800607" cy="449505"/>
            <a:chOff x="0" y="0"/>
            <a:chExt cx="1264357" cy="1183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4357" cy="118388"/>
            </a:xfrm>
            <a:custGeom>
              <a:avLst/>
              <a:gdLst/>
              <a:ahLst/>
              <a:cxnLst/>
              <a:rect l="l" t="t" r="r" b="b"/>
              <a:pathLst>
                <a:path w="1264357" h="118388">
                  <a:moveTo>
                    <a:pt x="17740" y="0"/>
                  </a:moveTo>
                  <a:lnTo>
                    <a:pt x="1246618" y="0"/>
                  </a:lnTo>
                  <a:cubicBezTo>
                    <a:pt x="1251323" y="0"/>
                    <a:pt x="1255835" y="1869"/>
                    <a:pt x="1259162" y="5196"/>
                  </a:cubicBezTo>
                  <a:cubicBezTo>
                    <a:pt x="1262488" y="8523"/>
                    <a:pt x="1264357" y="13035"/>
                    <a:pt x="1264357" y="17740"/>
                  </a:cubicBezTo>
                  <a:lnTo>
                    <a:pt x="1264357" y="100649"/>
                  </a:lnTo>
                  <a:cubicBezTo>
                    <a:pt x="1264357" y="110446"/>
                    <a:pt x="1256415" y="118388"/>
                    <a:pt x="1246618" y="118388"/>
                  </a:cubicBezTo>
                  <a:lnTo>
                    <a:pt x="17740" y="118388"/>
                  </a:lnTo>
                  <a:cubicBezTo>
                    <a:pt x="13035" y="118388"/>
                    <a:pt x="8523" y="116519"/>
                    <a:pt x="5196" y="113192"/>
                  </a:cubicBezTo>
                  <a:cubicBezTo>
                    <a:pt x="1869" y="109866"/>
                    <a:pt x="0" y="105353"/>
                    <a:pt x="0" y="100649"/>
                  </a:cubicBezTo>
                  <a:lnTo>
                    <a:pt x="0" y="17740"/>
                  </a:lnTo>
                  <a:cubicBezTo>
                    <a:pt x="0" y="7942"/>
                    <a:pt x="7942" y="0"/>
                    <a:pt x="17740" y="0"/>
                  </a:cubicBezTo>
                  <a:close/>
                </a:path>
              </a:pathLst>
            </a:custGeom>
            <a:solidFill>
              <a:srgbClr val="0CC0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83144" y="6186041"/>
            <a:ext cx="4800607" cy="449505"/>
            <a:chOff x="0" y="0"/>
            <a:chExt cx="1264357" cy="1183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4357" cy="118388"/>
            </a:xfrm>
            <a:custGeom>
              <a:avLst/>
              <a:gdLst/>
              <a:ahLst/>
              <a:cxnLst/>
              <a:rect l="l" t="t" r="r" b="b"/>
              <a:pathLst>
                <a:path w="1264357" h="118388">
                  <a:moveTo>
                    <a:pt x="17740" y="0"/>
                  </a:moveTo>
                  <a:lnTo>
                    <a:pt x="1246618" y="0"/>
                  </a:lnTo>
                  <a:cubicBezTo>
                    <a:pt x="1251323" y="0"/>
                    <a:pt x="1255835" y="1869"/>
                    <a:pt x="1259162" y="5196"/>
                  </a:cubicBezTo>
                  <a:cubicBezTo>
                    <a:pt x="1262488" y="8523"/>
                    <a:pt x="1264357" y="13035"/>
                    <a:pt x="1264357" y="17740"/>
                  </a:cubicBezTo>
                  <a:lnTo>
                    <a:pt x="1264357" y="100649"/>
                  </a:lnTo>
                  <a:cubicBezTo>
                    <a:pt x="1264357" y="110446"/>
                    <a:pt x="1256415" y="118388"/>
                    <a:pt x="1246618" y="118388"/>
                  </a:cubicBezTo>
                  <a:lnTo>
                    <a:pt x="17740" y="118388"/>
                  </a:lnTo>
                  <a:cubicBezTo>
                    <a:pt x="13035" y="118388"/>
                    <a:pt x="8523" y="116519"/>
                    <a:pt x="5196" y="113192"/>
                  </a:cubicBezTo>
                  <a:cubicBezTo>
                    <a:pt x="1869" y="109866"/>
                    <a:pt x="0" y="105353"/>
                    <a:pt x="0" y="100649"/>
                  </a:cubicBezTo>
                  <a:lnTo>
                    <a:pt x="0" y="17740"/>
                  </a:lnTo>
                  <a:cubicBezTo>
                    <a:pt x="0" y="7942"/>
                    <a:pt x="7942" y="0"/>
                    <a:pt x="17740" y="0"/>
                  </a:cubicBezTo>
                  <a:close/>
                </a:path>
              </a:pathLst>
            </a:custGeom>
            <a:solidFill>
              <a:srgbClr val="0CC0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63690" y="-8042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993710" y="1212023"/>
            <a:ext cx="8986036" cy="98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0"/>
              </a:lnSpc>
            </a:pPr>
            <a:r>
              <a:rPr lang="en-US" sz="5771" b="1">
                <a:solidFill>
                  <a:srgbClr val="F3F3F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Major Code snippets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041975" y="8717718"/>
            <a:ext cx="2321051" cy="2321051"/>
          </a:xfrm>
          <a:custGeom>
            <a:avLst/>
            <a:gdLst/>
            <a:ahLst/>
            <a:cxnLst/>
            <a:rect l="l" t="t" r="r" b="b"/>
            <a:pathLst>
              <a:path w="2321051" h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041975" y="5229662"/>
            <a:ext cx="1442186" cy="1442186"/>
          </a:xfrm>
          <a:custGeom>
            <a:avLst/>
            <a:gdLst/>
            <a:ahLst/>
            <a:cxnLst/>
            <a:rect l="l" t="t" r="r" b="b"/>
            <a:pathLst>
              <a:path w="1442186" h="1442186">
                <a:moveTo>
                  <a:pt x="0" y="0"/>
                </a:moveTo>
                <a:lnTo>
                  <a:pt x="1442186" y="0"/>
                </a:lnTo>
                <a:lnTo>
                  <a:pt x="1442186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9388244" y="130000"/>
            <a:ext cx="2287216" cy="2287216"/>
          </a:xfrm>
          <a:custGeom>
            <a:avLst/>
            <a:gdLst/>
            <a:ahLst/>
            <a:cxnLst/>
            <a:rect l="l" t="t" r="r" b="b"/>
            <a:pathLst>
              <a:path w="2287216" h="2287216">
                <a:moveTo>
                  <a:pt x="0" y="0"/>
                </a:moveTo>
                <a:lnTo>
                  <a:pt x="2287216" y="0"/>
                </a:lnTo>
                <a:lnTo>
                  <a:pt x="2287216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7158447" y="821566"/>
            <a:ext cx="1595650" cy="1595650"/>
          </a:xfrm>
          <a:custGeom>
            <a:avLst/>
            <a:gdLst/>
            <a:ahLst/>
            <a:cxnLst/>
            <a:rect l="l" t="t" r="r" b="b"/>
            <a:pathLst>
              <a:path w="1595650" h="1595650">
                <a:moveTo>
                  <a:pt x="0" y="0"/>
                </a:moveTo>
                <a:lnTo>
                  <a:pt x="1595650" y="0"/>
                </a:lnTo>
                <a:lnTo>
                  <a:pt x="1595650" y="1595651"/>
                </a:lnTo>
                <a:lnTo>
                  <a:pt x="0" y="159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878206" y="9725103"/>
            <a:ext cx="1314702" cy="1314702"/>
          </a:xfrm>
          <a:custGeom>
            <a:avLst/>
            <a:gdLst/>
            <a:ahLst/>
            <a:cxnLst/>
            <a:rect l="l" t="t" r="r" b="b"/>
            <a:pathLst>
              <a:path w="1314702" h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648345" y="2153738"/>
            <a:ext cx="4054229" cy="3797016"/>
          </a:xfrm>
          <a:custGeom>
            <a:avLst/>
            <a:gdLst/>
            <a:ahLst/>
            <a:cxnLst/>
            <a:rect l="l" t="t" r="r" b="b"/>
            <a:pathLst>
              <a:path w="4054229" h="3797016">
                <a:moveTo>
                  <a:pt x="0" y="0"/>
                </a:moveTo>
                <a:lnTo>
                  <a:pt x="4054230" y="0"/>
                </a:lnTo>
                <a:lnTo>
                  <a:pt x="4054230" y="3797017"/>
                </a:lnTo>
                <a:lnTo>
                  <a:pt x="0" y="379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4525" b="-3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8961931" y="6276171"/>
            <a:ext cx="7707045" cy="2889165"/>
          </a:xfrm>
          <a:custGeom>
            <a:avLst/>
            <a:gdLst/>
            <a:ahLst/>
            <a:cxnLst/>
            <a:rect l="l" t="t" r="r" b="b"/>
            <a:pathLst>
              <a:path w="7707045" h="2889165">
                <a:moveTo>
                  <a:pt x="0" y="0"/>
                </a:moveTo>
                <a:lnTo>
                  <a:pt x="7707046" y="0"/>
                </a:lnTo>
                <a:lnTo>
                  <a:pt x="7707046" y="2889166"/>
                </a:lnTo>
                <a:lnTo>
                  <a:pt x="0" y="28891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6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2270722" y="3128061"/>
            <a:ext cx="3151661" cy="5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Streamlit UI code snippet:</a:t>
            </a:r>
          </a:p>
          <a:p>
            <a:pPr algn="l">
              <a:lnSpc>
                <a:spcPts val="2255"/>
              </a:lnSpc>
            </a:pPr>
            <a:endParaRPr lang="en-US" sz="14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270722" y="7022931"/>
            <a:ext cx="6501745" cy="2003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1" lvl="1" indent="-151130" algn="l">
              <a:lnSpc>
                <a:spcPts val="2255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"Our Docker setup includes several optimizations for production use."</a:t>
            </a:r>
          </a:p>
          <a:p>
            <a:pPr marL="302261" lvl="1" indent="-151130" algn="l">
              <a:lnSpc>
                <a:spcPts val="2255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"We use a multi-stage build to keep the final image size small."</a:t>
            </a:r>
          </a:p>
          <a:p>
            <a:pPr marL="302261" lvl="1" indent="-151130" algn="l">
              <a:lnSpc>
                <a:spcPts val="2255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"The model is pre-downloaded and cached to speed up container startup."</a:t>
            </a:r>
          </a:p>
          <a:p>
            <a:pPr marL="302261" lvl="1" indent="-151130" algn="l">
              <a:lnSpc>
                <a:spcPts val="2255"/>
              </a:lnSpc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"Both FastAPI and Streamlit services run in a single container for simplicity, though they could be split for better scalability."</a:t>
            </a:r>
          </a:p>
          <a:p>
            <a:pPr algn="l">
              <a:lnSpc>
                <a:spcPts val="2255"/>
              </a:lnSpc>
            </a:pPr>
            <a:endParaRPr lang="en-US" sz="1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515602" y="2672914"/>
            <a:ext cx="4568149" cy="70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7"/>
              </a:lnSpc>
            </a:pPr>
            <a:r>
              <a:rPr lang="en-US" sz="203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Frontend Implementation</a:t>
            </a:r>
          </a:p>
          <a:p>
            <a:pPr algn="l">
              <a:lnSpc>
                <a:spcPts val="2847"/>
              </a:lnSpc>
            </a:pPr>
            <a:endParaRPr lang="en-US" sz="2033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395340" y="6228546"/>
            <a:ext cx="457119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Dockerfile highlights:</a:t>
            </a:r>
          </a:p>
          <a:p>
            <a:pPr algn="l">
              <a:lnSpc>
                <a:spcPts val="2940"/>
              </a:lnSpc>
            </a:pPr>
            <a:endParaRPr lang="en-US" sz="2100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192908" y="3416935"/>
            <a:ext cx="6074040" cy="1726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4" lvl="1" indent="-151132" algn="l">
              <a:lnSpc>
                <a:spcPts val="1960"/>
              </a:lnSpc>
              <a:buFont typeface="Arial"/>
              <a:buChar char="•"/>
            </a:pPr>
            <a:r>
              <a:rPr lang="en-US" sz="14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"The Streamlit interface provides a clean, interactive way for users to upload documents and ask questions."</a:t>
            </a:r>
          </a:p>
          <a:p>
            <a:pPr marL="302264" lvl="1" indent="-151132" algn="l">
              <a:lnSpc>
                <a:spcPts val="1960"/>
              </a:lnSpc>
              <a:buFont typeface="Arial"/>
              <a:buChar char="•"/>
            </a:pPr>
            <a:r>
              <a:rPr lang="en-US" sz="14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"We maintain conversation history in the session state for a better user experience."</a:t>
            </a:r>
          </a:p>
          <a:p>
            <a:pPr marL="302264" lvl="1" indent="-151132" algn="l">
              <a:lnSpc>
                <a:spcPts val="1960"/>
              </a:lnSpc>
              <a:buFont typeface="Arial"/>
              <a:buChar char="•"/>
            </a:pPr>
            <a:r>
              <a:rPr lang="en-US" sz="14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"The UI includes features like file upload limits, processing indicators, and error handling."</a:t>
            </a:r>
          </a:p>
          <a:p>
            <a:pPr algn="l">
              <a:lnSpc>
                <a:spcPts val="1960"/>
              </a:lnSpc>
            </a:pPr>
            <a:endParaRPr lang="en-US" sz="1400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192908" y="6692696"/>
            <a:ext cx="3151661" cy="5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Dockerfile highlights:</a:t>
            </a:r>
          </a:p>
          <a:p>
            <a:pPr algn="l">
              <a:lnSpc>
                <a:spcPts val="2255"/>
              </a:lnSpc>
            </a:pPr>
            <a:endParaRPr lang="en-US" sz="14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82156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586879" y="8718754"/>
            <a:ext cx="2321051" cy="2321051"/>
          </a:xfrm>
          <a:custGeom>
            <a:avLst/>
            <a:gdLst/>
            <a:ahLst/>
            <a:cxnLst/>
            <a:rect l="l" t="t" r="r" b="b"/>
            <a:pathLst>
              <a:path w="2321051" h="2321051">
                <a:moveTo>
                  <a:pt x="0" y="0"/>
                </a:moveTo>
                <a:lnTo>
                  <a:pt x="2321052" y="0"/>
                </a:lnTo>
                <a:lnTo>
                  <a:pt x="2321052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885258" y="1619391"/>
            <a:ext cx="2287216" cy="2287216"/>
          </a:xfrm>
          <a:custGeom>
            <a:avLst/>
            <a:gdLst/>
            <a:ahLst/>
            <a:cxnLst/>
            <a:rect l="l" t="t" r="r" b="b"/>
            <a:pathLst>
              <a:path w="2287216" h="2287216">
                <a:moveTo>
                  <a:pt x="0" y="0"/>
                </a:moveTo>
                <a:lnTo>
                  <a:pt x="2287217" y="0"/>
                </a:lnTo>
                <a:lnTo>
                  <a:pt x="2287217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305444" y="-566950"/>
            <a:ext cx="1595650" cy="1595650"/>
          </a:xfrm>
          <a:custGeom>
            <a:avLst/>
            <a:gdLst/>
            <a:ahLst/>
            <a:cxnLst/>
            <a:rect l="l" t="t" r="r" b="b"/>
            <a:pathLst>
              <a:path w="1595650" h="1595650">
                <a:moveTo>
                  <a:pt x="0" y="0"/>
                </a:moveTo>
                <a:lnTo>
                  <a:pt x="1595651" y="0"/>
                </a:lnTo>
                <a:lnTo>
                  <a:pt x="1595651" y="1595650"/>
                </a:lnTo>
                <a:lnTo>
                  <a:pt x="0" y="159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78206" y="9725103"/>
            <a:ext cx="1314702" cy="1314702"/>
          </a:xfrm>
          <a:custGeom>
            <a:avLst/>
            <a:gdLst/>
            <a:ahLst/>
            <a:cxnLst/>
            <a:rect l="l" t="t" r="r" b="b"/>
            <a:pathLst>
              <a:path w="1314702" h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2702726" y="4437519"/>
            <a:ext cx="4194335" cy="523061"/>
            <a:chOff x="0" y="0"/>
            <a:chExt cx="979762" cy="1221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79762" cy="122183"/>
            </a:xfrm>
            <a:custGeom>
              <a:avLst/>
              <a:gdLst/>
              <a:ahLst/>
              <a:cxnLst/>
              <a:rect l="l" t="t" r="r" b="b"/>
              <a:pathLst>
                <a:path w="979762" h="122183">
                  <a:moveTo>
                    <a:pt x="20304" y="0"/>
                  </a:moveTo>
                  <a:lnTo>
                    <a:pt x="959459" y="0"/>
                  </a:lnTo>
                  <a:cubicBezTo>
                    <a:pt x="964843" y="0"/>
                    <a:pt x="970008" y="2139"/>
                    <a:pt x="973816" y="5947"/>
                  </a:cubicBezTo>
                  <a:cubicBezTo>
                    <a:pt x="977623" y="9755"/>
                    <a:pt x="979762" y="14919"/>
                    <a:pt x="979762" y="20304"/>
                  </a:cubicBezTo>
                  <a:lnTo>
                    <a:pt x="979762" y="101879"/>
                  </a:lnTo>
                  <a:cubicBezTo>
                    <a:pt x="979762" y="107264"/>
                    <a:pt x="977623" y="112428"/>
                    <a:pt x="973816" y="116236"/>
                  </a:cubicBezTo>
                  <a:cubicBezTo>
                    <a:pt x="970008" y="120044"/>
                    <a:pt x="964843" y="122183"/>
                    <a:pt x="959459" y="122183"/>
                  </a:cubicBezTo>
                  <a:lnTo>
                    <a:pt x="20304" y="122183"/>
                  </a:lnTo>
                  <a:cubicBezTo>
                    <a:pt x="14919" y="122183"/>
                    <a:pt x="9755" y="120044"/>
                    <a:pt x="5947" y="116236"/>
                  </a:cubicBezTo>
                  <a:cubicBezTo>
                    <a:pt x="2139" y="112428"/>
                    <a:pt x="0" y="107264"/>
                    <a:pt x="0" y="101879"/>
                  </a:cubicBezTo>
                  <a:lnTo>
                    <a:pt x="0" y="20304"/>
                  </a:lnTo>
                  <a:cubicBezTo>
                    <a:pt x="0" y="14919"/>
                    <a:pt x="2139" y="9755"/>
                    <a:pt x="5947" y="5947"/>
                  </a:cubicBezTo>
                  <a:cubicBezTo>
                    <a:pt x="9755" y="2139"/>
                    <a:pt x="14919" y="0"/>
                    <a:pt x="20304" y="0"/>
                  </a:cubicBezTo>
                  <a:close/>
                </a:path>
              </a:pathLst>
            </a:custGeom>
            <a:solidFill>
              <a:srgbClr val="0CC0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79762" cy="17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711014" y="4424949"/>
            <a:ext cx="4271034" cy="532626"/>
            <a:chOff x="0" y="0"/>
            <a:chExt cx="979762" cy="1221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9762" cy="122183"/>
            </a:xfrm>
            <a:custGeom>
              <a:avLst/>
              <a:gdLst/>
              <a:ahLst/>
              <a:cxnLst/>
              <a:rect l="l" t="t" r="r" b="b"/>
              <a:pathLst>
                <a:path w="979762" h="122183">
                  <a:moveTo>
                    <a:pt x="19939" y="0"/>
                  </a:moveTo>
                  <a:lnTo>
                    <a:pt x="959823" y="0"/>
                  </a:lnTo>
                  <a:cubicBezTo>
                    <a:pt x="970835" y="0"/>
                    <a:pt x="979762" y="8927"/>
                    <a:pt x="979762" y="19939"/>
                  </a:cubicBezTo>
                  <a:lnTo>
                    <a:pt x="979762" y="102244"/>
                  </a:lnTo>
                  <a:cubicBezTo>
                    <a:pt x="979762" y="113256"/>
                    <a:pt x="970835" y="122183"/>
                    <a:pt x="959823" y="122183"/>
                  </a:cubicBezTo>
                  <a:lnTo>
                    <a:pt x="19939" y="122183"/>
                  </a:lnTo>
                  <a:cubicBezTo>
                    <a:pt x="14651" y="122183"/>
                    <a:pt x="9579" y="120082"/>
                    <a:pt x="5840" y="116343"/>
                  </a:cubicBezTo>
                  <a:cubicBezTo>
                    <a:pt x="2101" y="112603"/>
                    <a:pt x="0" y="107532"/>
                    <a:pt x="0" y="102244"/>
                  </a:cubicBezTo>
                  <a:lnTo>
                    <a:pt x="0" y="19939"/>
                  </a:lnTo>
                  <a:cubicBezTo>
                    <a:pt x="0" y="8927"/>
                    <a:pt x="8927" y="0"/>
                    <a:pt x="19939" y="0"/>
                  </a:cubicBezTo>
                  <a:close/>
                </a:path>
              </a:pathLst>
            </a:custGeom>
            <a:solidFill>
              <a:srgbClr val="0CC0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79762" cy="17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153799" y="4273200"/>
            <a:ext cx="851697" cy="85169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155675" y="4257627"/>
            <a:ext cx="867271" cy="86727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922244" y="1486041"/>
            <a:ext cx="11308845" cy="3560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3"/>
              </a:lnSpc>
            </a:pPr>
            <a:r>
              <a:rPr lang="en-US" sz="6795" b="1" dirty="0">
                <a:solidFill>
                  <a:srgbClr val="F3F3F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Performance &amp; Results</a:t>
            </a:r>
          </a:p>
          <a:p>
            <a:pPr algn="l">
              <a:lnSpc>
                <a:spcPts val="9513"/>
              </a:lnSpc>
            </a:pPr>
            <a:endParaRPr lang="en-US" sz="6795" b="1" dirty="0">
              <a:solidFill>
                <a:srgbClr val="F3F3F2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9513"/>
              </a:lnSpc>
            </a:pPr>
            <a:endParaRPr lang="en-US" sz="6795" b="1" dirty="0">
              <a:solidFill>
                <a:srgbClr val="F3F3F2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386798" y="5157955"/>
            <a:ext cx="6930144" cy="200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752" lvl="1" indent="-267376" algn="l">
              <a:lnSpc>
                <a:spcPts val="3990"/>
              </a:lnSpc>
              <a:buFont typeface="Arial"/>
              <a:buChar char="•"/>
            </a:pPr>
            <a:r>
              <a:rPr lang="en-US" sz="247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query latency: &lt;500ms</a:t>
            </a:r>
          </a:p>
          <a:p>
            <a:pPr marL="534752" lvl="1" indent="-267376" algn="l">
              <a:lnSpc>
                <a:spcPts val="3990"/>
              </a:lnSpc>
              <a:buFont typeface="Arial"/>
              <a:buChar char="•"/>
            </a:pPr>
            <a:r>
              <a:rPr lang="en-US" sz="247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for documents up to 100 pages</a:t>
            </a:r>
          </a:p>
          <a:p>
            <a:pPr marL="534752" lvl="1" indent="-267376" algn="l">
              <a:lnSpc>
                <a:spcPts val="3990"/>
              </a:lnSpc>
              <a:buFont typeface="Arial"/>
              <a:buChar char="•"/>
            </a:pPr>
            <a:r>
              <a:rPr lang="en-US" sz="247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Scalable to thousands of documents</a:t>
            </a:r>
          </a:p>
          <a:p>
            <a:pPr algn="l">
              <a:lnSpc>
                <a:spcPts val="3990"/>
              </a:lnSpc>
            </a:pPr>
            <a:endParaRPr lang="en-US" sz="2476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486065" y="5148430"/>
            <a:ext cx="5415138" cy="198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5279" lvl="1" indent="-262639" algn="l">
              <a:lnSpc>
                <a:spcPts val="3919"/>
              </a:lnSpc>
              <a:buFont typeface="Arial"/>
              <a:buChar char="•"/>
            </a:pPr>
            <a:r>
              <a:rPr lang="en-US" sz="24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Document Q&amp;A</a:t>
            </a:r>
          </a:p>
          <a:p>
            <a:pPr marL="525279" lvl="1" indent="-262639" algn="l">
              <a:lnSpc>
                <a:spcPts val="3919"/>
              </a:lnSpc>
              <a:buFont typeface="Arial"/>
              <a:buChar char="•"/>
            </a:pPr>
            <a:r>
              <a:rPr lang="en-US" sz="24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Semantic search</a:t>
            </a:r>
          </a:p>
          <a:p>
            <a:pPr marL="525279" lvl="1" indent="-262639" algn="l">
              <a:lnSpc>
                <a:spcPts val="3919"/>
              </a:lnSpc>
              <a:buFont typeface="Arial"/>
              <a:buChar char="•"/>
            </a:pPr>
            <a:r>
              <a:rPr lang="en-US" sz="24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 summarization</a:t>
            </a:r>
          </a:p>
          <a:p>
            <a:pPr algn="l">
              <a:lnSpc>
                <a:spcPts val="3919"/>
              </a:lnSpc>
            </a:pPr>
            <a:endParaRPr lang="en-US" sz="243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202724" y="4472076"/>
            <a:ext cx="3513315" cy="40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367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Performance metrics: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20155" y="4461009"/>
            <a:ext cx="3577561" cy="41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411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Example use cases: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27476" y="4372330"/>
            <a:ext cx="686811" cy="59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2"/>
              </a:lnSpc>
            </a:pPr>
            <a:r>
              <a:rPr lang="en-US" sz="3487" dirty="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39626" y="4388691"/>
            <a:ext cx="699370" cy="60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355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02</a:t>
            </a:r>
          </a:p>
        </p:txBody>
      </p:sp>
      <p:sp>
        <p:nvSpPr>
          <p:cNvPr id="27" name="Freeform 27"/>
          <p:cNvSpPr/>
          <p:nvPr/>
        </p:nvSpPr>
        <p:spPr>
          <a:xfrm>
            <a:off x="8291191" y="6333439"/>
            <a:ext cx="1655798" cy="1655798"/>
          </a:xfrm>
          <a:custGeom>
            <a:avLst/>
            <a:gdLst/>
            <a:ahLst/>
            <a:cxnLst/>
            <a:rect l="l" t="t" r="r" b="b"/>
            <a:pathLst>
              <a:path w="1655798" h="1655798">
                <a:moveTo>
                  <a:pt x="0" y="0"/>
                </a:moveTo>
                <a:lnTo>
                  <a:pt x="1655798" y="0"/>
                </a:lnTo>
                <a:lnTo>
                  <a:pt x="1655798" y="1655797"/>
                </a:lnTo>
                <a:lnTo>
                  <a:pt x="0" y="16557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2032214" y="3008898"/>
            <a:ext cx="15227086" cy="51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1" dirty="0">
                <a:solidFill>
                  <a:srgbClr val="F3F3F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2962" dirty="0">
                <a:solidFill>
                  <a:srgbClr val="F3F3F2"/>
                </a:solidFill>
                <a:latin typeface="HK Grotesk"/>
                <a:ea typeface="HK Grotesk"/>
                <a:cs typeface="HK Grotesk"/>
                <a:sym typeface="HK Grotesk"/>
              </a:rPr>
              <a:t>I’ve also implemented efficient text chunking and batching to handle large documents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9393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397963" y="7123103"/>
            <a:ext cx="2321051" cy="2321051"/>
          </a:xfrm>
          <a:custGeom>
            <a:avLst/>
            <a:gdLst/>
            <a:ahLst/>
            <a:cxnLst/>
            <a:rect l="l" t="t" r="r" b="b"/>
            <a:pathLst>
              <a:path w="2321051" h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422407" y="8001968"/>
            <a:ext cx="1442186" cy="1442186"/>
          </a:xfrm>
          <a:custGeom>
            <a:avLst/>
            <a:gdLst/>
            <a:ahLst/>
            <a:cxnLst/>
            <a:rect l="l" t="t" r="r" b="b"/>
            <a:pathLst>
              <a:path w="1442186" h="1442186">
                <a:moveTo>
                  <a:pt x="0" y="0"/>
                </a:moveTo>
                <a:lnTo>
                  <a:pt x="1442186" y="0"/>
                </a:lnTo>
                <a:lnTo>
                  <a:pt x="1442186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905923" y="569950"/>
            <a:ext cx="2287216" cy="2287216"/>
          </a:xfrm>
          <a:custGeom>
            <a:avLst/>
            <a:gdLst/>
            <a:ahLst/>
            <a:cxnLst/>
            <a:rect l="l" t="t" r="r" b="b"/>
            <a:pathLst>
              <a:path w="2287216" h="2287216">
                <a:moveTo>
                  <a:pt x="0" y="0"/>
                </a:moveTo>
                <a:lnTo>
                  <a:pt x="2287217" y="0"/>
                </a:lnTo>
                <a:lnTo>
                  <a:pt x="2287217" y="2287216"/>
                </a:lnTo>
                <a:lnTo>
                  <a:pt x="0" y="228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957756" y="-797825"/>
            <a:ext cx="1595650" cy="1595650"/>
          </a:xfrm>
          <a:custGeom>
            <a:avLst/>
            <a:gdLst/>
            <a:ahLst/>
            <a:cxnLst/>
            <a:rect l="l" t="t" r="r" b="b"/>
            <a:pathLst>
              <a:path w="1595650" h="1595650">
                <a:moveTo>
                  <a:pt x="0" y="0"/>
                </a:moveTo>
                <a:lnTo>
                  <a:pt x="1595651" y="0"/>
                </a:lnTo>
                <a:lnTo>
                  <a:pt x="1595651" y="1595650"/>
                </a:lnTo>
                <a:lnTo>
                  <a:pt x="0" y="159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78206" y="9725103"/>
            <a:ext cx="1314702" cy="1314702"/>
          </a:xfrm>
          <a:custGeom>
            <a:avLst/>
            <a:gdLst/>
            <a:ahLst/>
            <a:cxnLst/>
            <a:rect l="l" t="t" r="r" b="b"/>
            <a:pathLst>
              <a:path w="1314702" h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2351920" y="1521097"/>
            <a:ext cx="13584160" cy="7244807"/>
            <a:chOff x="0" y="0"/>
            <a:chExt cx="3577721" cy="19080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77721" cy="1908097"/>
            </a:xfrm>
            <a:custGeom>
              <a:avLst/>
              <a:gdLst/>
              <a:ahLst/>
              <a:cxnLst/>
              <a:rect l="l" t="t" r="r" b="b"/>
              <a:pathLst>
                <a:path w="3577721" h="1908097">
                  <a:moveTo>
                    <a:pt x="3420" y="0"/>
                  </a:moveTo>
                  <a:lnTo>
                    <a:pt x="3574302" y="0"/>
                  </a:lnTo>
                  <a:cubicBezTo>
                    <a:pt x="3575209" y="0"/>
                    <a:pt x="3576078" y="360"/>
                    <a:pt x="3576720" y="1002"/>
                  </a:cubicBezTo>
                  <a:cubicBezTo>
                    <a:pt x="3577361" y="1643"/>
                    <a:pt x="3577721" y="2513"/>
                    <a:pt x="3577721" y="3420"/>
                  </a:cubicBezTo>
                  <a:lnTo>
                    <a:pt x="3577721" y="1904678"/>
                  </a:lnTo>
                  <a:cubicBezTo>
                    <a:pt x="3577721" y="1905585"/>
                    <a:pt x="3577361" y="1906454"/>
                    <a:pt x="3576720" y="1907096"/>
                  </a:cubicBezTo>
                  <a:cubicBezTo>
                    <a:pt x="3576078" y="1907737"/>
                    <a:pt x="3575209" y="1908097"/>
                    <a:pt x="3574302" y="1908097"/>
                  </a:cubicBezTo>
                  <a:lnTo>
                    <a:pt x="3420" y="1908097"/>
                  </a:lnTo>
                  <a:cubicBezTo>
                    <a:pt x="2513" y="1908097"/>
                    <a:pt x="1643" y="1907737"/>
                    <a:pt x="1002" y="1907096"/>
                  </a:cubicBezTo>
                  <a:cubicBezTo>
                    <a:pt x="360" y="1906454"/>
                    <a:pt x="0" y="1905585"/>
                    <a:pt x="0" y="1904678"/>
                  </a:cubicBezTo>
                  <a:lnTo>
                    <a:pt x="0" y="3420"/>
                  </a:lnTo>
                  <a:cubicBezTo>
                    <a:pt x="0" y="2513"/>
                    <a:pt x="360" y="1643"/>
                    <a:pt x="1002" y="1002"/>
                  </a:cubicBezTo>
                  <a:cubicBezTo>
                    <a:pt x="1643" y="360"/>
                    <a:pt x="2513" y="0"/>
                    <a:pt x="3420" y="0"/>
                  </a:cubicBezTo>
                  <a:close/>
                </a:path>
              </a:pathLst>
            </a:custGeom>
            <a:solidFill>
              <a:srgbClr val="0CC0DF">
                <a:alpha val="6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577721" cy="1965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890037" y="3895391"/>
            <a:ext cx="10507926" cy="2127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95"/>
              </a:lnSpc>
            </a:pPr>
            <a:r>
              <a:rPr lang="en-US" sz="13537" b="1">
                <a:solidFill>
                  <a:srgbClr val="C1FF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375</Words>
  <Application>Microsoft Office PowerPoint</Application>
  <PresentationFormat>Custom</PresentationFormat>
  <Paragraphs>54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Poppins Bold</vt:lpstr>
      <vt:lpstr>HK Grotesk Bold</vt:lpstr>
      <vt:lpstr>Poppins</vt:lpstr>
      <vt:lpstr>HK Grotesk</vt:lpstr>
      <vt:lpstr>Calibri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Cyan Modern Animated Tech Presentation</dc:title>
  <cp:lastModifiedBy>Sudipta Roy</cp:lastModifiedBy>
  <cp:revision>4</cp:revision>
  <dcterms:created xsi:type="dcterms:W3CDTF">2006-08-16T00:00:00Z</dcterms:created>
  <dcterms:modified xsi:type="dcterms:W3CDTF">2025-12-10T20:19:56Z</dcterms:modified>
  <dc:identifier>DAG7INfKV28</dc:identifier>
</cp:coreProperties>
</file>